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0" y="0"/>
            <a:ext cx="57150" cy="68580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36576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AF6ED"/>
                </a:solidFill>
                <a:latin typeface="Calibri"/>
              </a:rPr>
              <a:t>Idea Submission · Round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6576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A44A"/>
                </a:solidFill>
                <a:latin typeface="Calibri"/>
              </a:rP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AF6ED"/>
                </a:solidFill>
                <a:latin typeface="Calibri"/>
              </a:rPr>
              <a:t>Arjuna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3657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A44A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365760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AF6ED"/>
                </a:solidFill>
                <a:latin typeface="Calibri"/>
              </a:rPr>
              <a:t>Theme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36576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AF6ED"/>
                </a:solidFill>
                <a:latin typeface="Calibri"/>
              </a:rPr>
              <a:t>AI for the 1092 Helpline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AF6ED"/>
                </a:solidFill>
                <a:latin typeface="Calibri"/>
              </a:rPr>
              <a:t>(Karnataka Women &amp; Child)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36576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3657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A44A"/>
                </a:solidFill>
                <a:latin typeface="Calibri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00600"/>
            <a:ext cx="365760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AF6ED"/>
                </a:solidFill>
                <a:latin typeface="Calibri"/>
              </a:rPr>
              <a:t>Voice AI · Citizen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36576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440680"/>
            <a:ext cx="3657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A44A"/>
                </a:solidFill>
                <a:latin typeface="Calibri"/>
              </a:rPr>
              <a:t>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15000"/>
            <a:ext cx="36576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AF6ED"/>
                </a:solidFill>
                <a:latin typeface="Calibri"/>
              </a:rPr>
              <a:t>Government of Karnataka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AF6ED"/>
                </a:solidFill>
                <a:latin typeface="Calibri"/>
              </a:rPr>
              <a:t>DPAR (e-Governance)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AF6ED"/>
                </a:solidFill>
                <a:latin typeface="Calibri"/>
              </a:rPr>
              <a:t>1092 · Women &amp; Child Helpline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"/>
            <a:ext cx="722376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IDEA TITLE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841248"/>
            <a:ext cx="7315200" cy="1554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200" b="1" i="0">
                <a:solidFill>
                  <a:srgbClr val="064037"/>
                </a:solidFill>
                <a:latin typeface="Calibri"/>
              </a:rPr>
              <a:t>Pratyaya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286000"/>
            <a:ext cx="7315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7A18"/>
                </a:solidFill>
                <a:latin typeface="Calibri"/>
              </a:rPr>
              <a:t>ಪ್ರತ್ಯಯ · प्रत्यय · Sanskrit for verified understanding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697480"/>
            <a:ext cx="722376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7223760" cy="1325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36433F"/>
                </a:solidFill>
                <a:latin typeface="Calibri"/>
              </a:rPr>
              <a:t>A real-time </a:t>
            </a:r>
            <a:r>
              <a:rPr sz="1400" b="1">
                <a:solidFill>
                  <a:srgbClr val="064037"/>
                </a:solidFill>
                <a:latin typeface="Calibri"/>
              </a:rPr>
              <a:t>voice-to-voice</a:t>
            </a:r>
            <a:r>
              <a:rPr sz="1400" b="0">
                <a:solidFill>
                  <a:srgbClr val="36433F"/>
                </a:solidFill>
                <a:latin typeface="Calibri"/>
              </a:rPr>
              <a:t> AI co-pilot for the 1092 helpline that </a:t>
            </a:r>
            <a:r>
              <a:rPr sz="1400" b="1">
                <a:solidFill>
                  <a:srgbClr val="064037"/>
                </a:solidFill>
                <a:latin typeface="Calibri"/>
              </a:rPr>
              <a:t>listens</a:t>
            </a:r>
            <a:r>
              <a:rPr sz="1400" b="0">
                <a:solidFill>
                  <a:srgbClr val="36433F"/>
                </a:solidFill>
                <a:latin typeface="Calibri"/>
              </a:rPr>
              <a:t> to a citizen in any of Karnataka's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B07A18"/>
                </a:solidFill>
                <a:latin typeface="Calibri"/>
              </a:rPr>
              <a:t>Kannada / Hindi / English</a:t>
            </a:r>
            <a:r>
              <a:rPr sz="1400" b="0">
                <a:solidFill>
                  <a:srgbClr val="36433F"/>
                </a:solidFill>
                <a:latin typeface="Calibri"/>
              </a:rPr>
              <a:t> dialects, </a:t>
            </a:r>
            <a:r>
              <a:rPr sz="1400" b="1">
                <a:solidFill>
                  <a:srgbClr val="064037"/>
                </a:solidFill>
                <a:latin typeface="Calibri"/>
              </a:rPr>
              <a:t>interprets</a:t>
            </a:r>
            <a:r>
              <a:rPr sz="1400" b="0">
                <a:solidFill>
                  <a:srgbClr val="36433F"/>
                </a:solidFill>
                <a:latin typeface="Calibri"/>
              </a:rPr>
              <a:t> the issue, </a:t>
            </a:r>
            <a:r>
              <a:rPr sz="1400" b="1">
                <a:solidFill>
                  <a:srgbClr val="064037"/>
                </a:solidFill>
                <a:latin typeface="Calibri"/>
              </a:rPr>
              <a:t>verifies</a:t>
            </a:r>
            <a:r>
              <a:rPr sz="1400" b="0">
                <a:solidFill>
                  <a:srgbClr val="36433F"/>
                </a:solidFill>
                <a:latin typeface="Calibri"/>
              </a:rPr>
              <a:t> its own understanding back to the citizen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36433F"/>
                </a:solidFill>
                <a:latin typeface="Calibri"/>
              </a:rPr>
              <a:t>in their own dialect, and </a:t>
            </a:r>
            <a:r>
              <a:rPr sz="1400" b="1">
                <a:solidFill>
                  <a:srgbClr val="064037"/>
                </a:solidFill>
                <a:latin typeface="Calibri"/>
              </a:rPr>
              <a:t>hands over</a:t>
            </a:r>
            <a:r>
              <a:rPr sz="1400" b="0">
                <a:solidFill>
                  <a:srgbClr val="36433F"/>
                </a:solidFill>
                <a:latin typeface="Calibri"/>
              </a:rPr>
              <a:t> to a human officer the moment confidence drops or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36433F"/>
                </a:solidFill>
                <a:latin typeface="Calibri"/>
              </a:rPr>
              <a:t>distress rises — </a:t>
            </a:r>
            <a:r>
              <a:rPr sz="1400" b="1">
                <a:solidFill>
                  <a:srgbClr val="9F1239"/>
                </a:solidFill>
                <a:latin typeface="Calibri"/>
              </a:rPr>
              <a:t>never leaves the citizen mid-air.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434840"/>
            <a:ext cx="1737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434840"/>
            <a:ext cx="1737360" cy="27432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471416"/>
            <a:ext cx="155448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VOICE-FIRST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818888"/>
            <a:ext cx="14630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Real-time voice-to-voice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sub-second p50 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434840"/>
            <a:ext cx="1737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434840"/>
            <a:ext cx="1737360" cy="27432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71416"/>
            <a:ext cx="155448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MULTILINGUAL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818888"/>
            <a:ext cx="14630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Kannada · Hindi · English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dialect-aware ASR + TTS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434840"/>
            <a:ext cx="1737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434840"/>
            <a:ext cx="1737360" cy="274320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471416"/>
            <a:ext cx="155448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VERIFIED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818888"/>
            <a:ext cx="14630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Paraphrase-back loop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before the AI acts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434840"/>
            <a:ext cx="1737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0" y="4434840"/>
            <a:ext cx="1737360" cy="27432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4471416"/>
            <a:ext cx="155448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GRACEFUL HANDOVER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818888"/>
            <a:ext cx="14630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Severe / low-confidence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433F"/>
                </a:solidFill>
                <a:latin typeface="Calibri"/>
              </a:rPr>
              <a:t>→ human officer with context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6263640"/>
            <a:ext cx="7223760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6263640"/>
            <a:ext cx="72237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9A44A"/>
                </a:solidFill>
                <a:latin typeface="Calibri"/>
              </a:rPr>
              <a:t>  3 LANGUAGES  ·  4 DIALECT FAMILIES  ·  6-D LIVE SENTIMENT  ·  HASH-CHAINED AUDIT  ·  IN-JURISDICTION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TEAM ARJUNA  ·  PRATYAYA  ·  AI for the 1092 Helpline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"/>
            <a:ext cx="4206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THEME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10058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64037"/>
                </a:solidFill>
                <a:latin typeface="Calibri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9264"/>
            <a:ext cx="64008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42415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A5E"/>
                </a:solidFill>
                <a:latin typeface="Calibri"/>
              </a:rPr>
              <a:t>Voice-to-voice · Multilingual · Verified-understanding-first · Conversational LLM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Pratyaya · Sanskrit for verified understanding   |   Team Arjuna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42062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@AI for Bharat 2 · Theme 12 · 1092 Helpline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6035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7A18"/>
                </a:solidFill>
                <a:latin typeface="Calibri"/>
              </a:rPr>
              <a:t>PROBLEM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603504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6433F"/>
                </a:solidFill>
                <a:latin typeface="Calibri"/>
              </a:rPr>
              <a:t>Karnataka's 1092 helpline receives </a:t>
            </a:r>
            <a:r>
              <a:rPr sz="1250" b="1">
                <a:solidFill>
                  <a:srgbClr val="9F1239"/>
                </a:solidFill>
                <a:latin typeface="Calibri"/>
              </a:rPr>
              <a:t>emotionally-charged</a:t>
            </a:r>
            <a:r>
              <a:rPr sz="1250" b="0">
                <a:solidFill>
                  <a:srgbClr val="36433F"/>
                </a:solidFill>
                <a:latin typeface="Calibri"/>
              </a:rPr>
              <a:t>, </a:t>
            </a:r>
            <a:r>
              <a:rPr sz="1250" b="1">
                <a:solidFill>
                  <a:srgbClr val="064037"/>
                </a:solidFill>
                <a:latin typeface="Calibri"/>
              </a:rPr>
              <a:t>dialect-rich</a:t>
            </a:r>
            <a:r>
              <a:rPr sz="1250" b="0">
                <a:solidFill>
                  <a:srgbClr val="36433F"/>
                </a:solidFill>
                <a:latin typeface="Calibri"/>
              </a:rPr>
              <a:t> calls in </a:t>
            </a:r>
            <a:r>
              <a:rPr sz="1250" b="1">
                <a:solidFill>
                  <a:srgbClr val="B07A18"/>
                </a:solidFill>
                <a:latin typeface="Calibri"/>
              </a:rPr>
              <a:t>Kannada / Hindi / English</a:t>
            </a:r>
            <a:r>
              <a:rPr sz="1250" b="0">
                <a:solidFill>
                  <a:srgbClr val="36433F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36433F"/>
                </a:solidFill>
                <a:latin typeface="Calibri"/>
              </a:rPr>
              <a:t>The costliest failure is </a:t>
            </a:r>
            <a:r>
              <a:rPr sz="1250" b="1">
                <a:solidFill>
                  <a:srgbClr val="9F1239"/>
                </a:solidFill>
                <a:latin typeface="Calibri"/>
              </a:rPr>
              <a:t>not slow response — it's acting on a wrong interpretation.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36433F"/>
                </a:solidFill>
                <a:latin typeface="Calibri"/>
              </a:rPr>
              <a:t>Pratyaya optimises for </a:t>
            </a:r>
            <a:r>
              <a:rPr sz="1250" b="1">
                <a:solidFill>
                  <a:srgbClr val="064037"/>
                </a:solidFill>
                <a:latin typeface="Calibri"/>
              </a:rPr>
              <a:t>time-to-verified-understanding</a:t>
            </a:r>
            <a:r>
              <a:rPr sz="1250" b="0">
                <a:solidFill>
                  <a:srgbClr val="36433F"/>
                </a:solidFill>
                <a:latin typeface="Calibri"/>
              </a:rPr>
              <a:t>, not time-to-response.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4173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417320"/>
            <a:ext cx="146304" cy="118872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508760"/>
            <a:ext cx="47548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OUR 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783080"/>
            <a:ext cx="475488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Citizens calling 1092 deserve to be understood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BEFORE they are answered. Pratyaya makes that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the default — every state transition is logged,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every interpretation is editable.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97480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USER FLOW DIAGRAM   →   how every call moves through Pratyaya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90088"/>
            <a:ext cx="54864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1546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46120"/>
            <a:ext cx="15087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CITIZEN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20440"/>
            <a:ext cx="1508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speaks naturally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Kn / Hi / 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74520" y="3538728"/>
            <a:ext cx="182880" cy="0"/>
          </a:xfrm>
          <a:prstGeom prst="line">
            <a:avLst/>
          </a:prstGeom>
          <a:ln w="3175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057400" y="31546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246120"/>
            <a:ext cx="15087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STT · ASR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520440"/>
            <a:ext cx="1508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Whisper-Large-v3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script-locked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3538728"/>
            <a:ext cx="182880" cy="0"/>
          </a:xfrm>
          <a:prstGeom prst="line">
            <a:avLst/>
          </a:prstGeom>
          <a:ln w="3175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749040" y="31546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3246120"/>
            <a:ext cx="15087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28"/>
                </a:solidFill>
                <a:latin typeface="Calibri"/>
              </a:rPr>
              <a:t>LLM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3520440"/>
            <a:ext cx="1508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Llama-3.3-70B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full chat history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57800" y="3538728"/>
            <a:ext cx="182880" cy="0"/>
          </a:xfrm>
          <a:prstGeom prst="line">
            <a:avLst/>
          </a:prstGeom>
          <a:ln w="3175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40680" y="31546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246120"/>
            <a:ext cx="15087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28"/>
                </a:solidFill>
                <a:latin typeface="Calibr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520440"/>
            <a:ext cx="1508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paraphrase-back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in citizen dialect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49440" y="3538728"/>
            <a:ext cx="182880" cy="0"/>
          </a:xfrm>
          <a:prstGeom prst="line">
            <a:avLst/>
          </a:prstGeom>
          <a:ln w="3175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132320" y="31546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D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246120"/>
            <a:ext cx="15087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28"/>
                </a:solidFill>
                <a:latin typeface="Calibri"/>
              </a:rPr>
              <a:t>CITIZEN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20440"/>
            <a:ext cx="1508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yes / no /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A28"/>
                </a:solidFill>
                <a:latin typeface="Calibri"/>
              </a:rPr>
              <a:t>correction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31546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3246120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5204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ask · verify · guide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AF6ED"/>
                </a:solidFill>
                <a:latin typeface="Calibri"/>
              </a:rPr>
              <a:t>close · hand-over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641080" y="3538728"/>
            <a:ext cx="182880" cy="0"/>
          </a:xfrm>
          <a:prstGeom prst="line">
            <a:avLst/>
          </a:prstGeom>
          <a:ln w="3175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65760" y="43434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343400"/>
            <a:ext cx="2697480" cy="292608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379976"/>
            <a:ext cx="242316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AI guides → CLOSE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4709160"/>
            <a:ext cx="2368296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Citizen: "thanks / ಧನ್ಯವಾದ / ठीक है"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→ AI gives 2-3 sentence advice → auto-hangup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714500.0" y="3931920"/>
            <a:ext cx="8023860.0" cy="41148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291840" y="43434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91840" y="4343400"/>
            <a:ext cx="2697480" cy="292608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4379976"/>
            <a:ext cx="242316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AI re-interprets → ASK / VERIFY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4709160"/>
            <a:ext cx="2368296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Citizen corrects → LLM re-runs with full history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→ fresh paraphrase in dialect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4640580.0" y="3931920"/>
            <a:ext cx="5097780.0" cy="41148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217920" y="43434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4343400"/>
            <a:ext cx="2697480" cy="292608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4379976"/>
            <a:ext cx="242316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HANDOVER → human officer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4709160"/>
            <a:ext cx="2368296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Severe issue · distress rising · explicit ask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→ warm bridge line · agent dashboard pre-loaded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7566660.0" y="3931920"/>
            <a:ext cx="2171700.0" cy="41148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65760" y="5760720"/>
            <a:ext cx="57150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760720"/>
            <a:ext cx="128016" cy="77724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806440"/>
            <a:ext cx="54406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UNIQUENESS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053328"/>
            <a:ext cx="54406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Verified-understanding-first</a:t>
            </a:r>
            <a:r>
              <a:rPr sz="1050" b="1">
                <a:solidFill>
                  <a:srgbClr val="B07A18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Script-aware language lock</a:t>
            </a:r>
            <a:r>
              <a:rPr sz="1050" b="1">
                <a:solidFill>
                  <a:srgbClr val="B07A18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Conversational LLM with chat history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Distress fast-path keyword spotter</a:t>
            </a:r>
            <a:r>
              <a:rPr sz="1050" b="1">
                <a:solidFill>
                  <a:srgbClr val="B07A18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Hash-chained audit ledger</a:t>
            </a:r>
            <a:r>
              <a:rPr sz="1050" b="1">
                <a:solidFill>
                  <a:srgbClr val="B07A18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In-jurisdiction inference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63640" y="5760720"/>
            <a:ext cx="57150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D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63640" y="5760720"/>
            <a:ext cx="128016" cy="77724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5806440"/>
            <a:ext cx="54406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6B5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6053328"/>
            <a:ext cx="54406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Multilingual gap → real-time STT/TTS</a:t>
            </a:r>
            <a:r>
              <a:rPr sz="1050" b="1">
                <a:solidFill>
                  <a:srgbClr val="0D6B5E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Dialect gap → script-aware retry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Mis-understanding gap → paraphrase-back</a:t>
            </a:r>
            <a:r>
              <a:rPr sz="1050" b="1">
                <a:solidFill>
                  <a:srgbClr val="0D6B5E"/>
                </a:solidFill>
                <a:latin typeface="Calibri"/>
              </a:rPr>
              <a:t>  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Emotional gap → 6-D sentiment radar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TEAM ARJUNA  ·  PRATYAYA  ·  AI for the 1092 Helpline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"/>
            <a:ext cx="4206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THEME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10058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64037"/>
                </a:solidFill>
                <a:latin typeface="Calibri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9264"/>
            <a:ext cx="64008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42415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A5E"/>
                </a:solidFill>
                <a:latin typeface="Calibri"/>
              </a:rPr>
              <a:t>Open-source · Indian-cloud deployable · Sub-second p50 turn-to-verification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Pratyaya · Sanskrit for verified understanding   |   Team Arjuna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42062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@AI for Bharat 2 · Theme 12 · 1092 Helpline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42062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TECH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4572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178308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83080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783080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Whisper-Large-v3 (Groq) · edge-tts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MediaRecorder + WebAudio VAD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50008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50008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LLM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350008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Llama-3.3-70B-versatile (Groq)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Llama-3.1-8B (fast intent)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916936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2916936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FastAPI · Uvicorn · WebSockets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async httpx · PyDantic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83864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83864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483864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Vanilla JS · Chart.js · Web Audio API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Noto Sans Kannada/Devanagari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050792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50792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050792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PostgreSQL 16 (Supabase) · SQLite fallback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hash-chained audit ledger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1772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17720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SENTIMENT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617720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6-D fusion: prosody (pitch/jitter/loudness)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+ lexical (LLM)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184648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184648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184648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Edge-time PII redaction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In-jurisdiction inference (MeghRaj-ready)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751576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751576"/>
            <a:ext cx="14173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NOTIFY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751576"/>
            <a:ext cx="2697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6433F"/>
                </a:solidFill>
                <a:latin typeface="Calibri"/>
              </a:rPr>
              <a:t>Telegram Bot API · officer hand-over pings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1417320"/>
            <a:ext cx="70408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ARCHITECTURE DIAGRAM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709928"/>
            <a:ext cx="45720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54880" y="1828800"/>
            <a:ext cx="7040880" cy="4617720"/>
          </a:xfrm>
          <a:prstGeom prst="roundRect">
            <a:avLst>
              <a:gd name="adj" fmla="val 2000"/>
            </a:avLst>
          </a:prstGeom>
          <a:solidFill>
            <a:srgbClr val="F3EDDF"/>
          </a:solidFill>
          <a:ln w="9525">
            <a:solidFill>
              <a:srgbClr val="B8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83480" y="1965960"/>
            <a:ext cx="2194560" cy="594360"/>
          </a:xfrm>
          <a:prstGeom prst="roundRect">
            <a:avLst>
              <a:gd name="adj" fmla="val 10000"/>
            </a:avLst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1965960"/>
            <a:ext cx="219456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📞  CITIZEN  ·  any phone browser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1965960"/>
            <a:ext cx="2194560" cy="594360"/>
          </a:xfrm>
          <a:prstGeom prst="roundRect">
            <a:avLst>
              <a:gd name="adj" fmla="val 10000"/>
            </a:avLst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965960"/>
            <a:ext cx="219456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🧑‍💼  AGENT  ·  dashboard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29718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80" y="30175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WebRTC / LiveKit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32644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AF6ED"/>
                </a:solidFill>
                <a:latin typeface="Calibri"/>
              </a:rPr>
              <a:t>media bridge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1192" y="29718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51192" y="30175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VAD + Noise Suppress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1192" y="32644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AF6ED"/>
                </a:solidFill>
                <a:latin typeface="Calibri"/>
              </a:rPr>
              <a:t>RNNoise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18904" y="29718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8904" y="30175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PII Edge 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18904" y="32644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AF6ED"/>
                </a:solidFill>
                <a:latin typeface="Calibri"/>
              </a:rPr>
              <a:t>spaCy + Indian NER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6035040.0" y="2560320"/>
            <a:ext cx="45720.0" cy="411480"/>
          </a:xfrm>
          <a:prstGeom prst="line">
            <a:avLst/>
          </a:prstGeom>
          <a:ln w="2540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983480" y="3977640"/>
            <a:ext cx="1591056" cy="594360"/>
          </a:xfrm>
          <a:prstGeom prst="roundRect">
            <a:avLst>
              <a:gd name="adj" fmla="val 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3480" y="4014216"/>
            <a:ext cx="159105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A28"/>
                </a:solidFill>
                <a:latin typeface="Calibri"/>
              </a:rPr>
              <a:t>ASR — Track 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251960"/>
            <a:ext cx="1591056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Whisper-Large-v3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script-locked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65976" y="3977640"/>
            <a:ext cx="1591056" cy="594360"/>
          </a:xfrm>
          <a:prstGeom prst="roundRect">
            <a:avLst>
              <a:gd name="adj" fmla="val 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5976" y="4014216"/>
            <a:ext cx="159105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A28"/>
                </a:solidFill>
                <a:latin typeface="Calibri"/>
              </a:rPr>
              <a:t>ASR — Track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5976" y="4251960"/>
            <a:ext cx="1591056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Indic priors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(IndicConformer-ready)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48472" y="3977640"/>
            <a:ext cx="1591056" cy="594360"/>
          </a:xfrm>
          <a:prstGeom prst="roundRect">
            <a:avLst>
              <a:gd name="adj" fmla="val 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48472" y="4014216"/>
            <a:ext cx="159105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A28"/>
                </a:solidFill>
                <a:latin typeface="Calibri"/>
              </a:rPr>
              <a:t>Dialect Tag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2" y="4251960"/>
            <a:ext cx="1591056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Wav2Vec2 fine-tune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30968" y="3977640"/>
            <a:ext cx="1591056" cy="594360"/>
          </a:xfrm>
          <a:prstGeom prst="roundRect">
            <a:avLst>
              <a:gd name="adj" fmla="val 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30968" y="4014216"/>
            <a:ext cx="159105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A28"/>
                </a:solidFill>
                <a:latin typeface="Calibri"/>
              </a:rPr>
              <a:t>Sentiment 6-D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30968" y="4251960"/>
            <a:ext cx="1591056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36433F"/>
                </a:solidFill>
                <a:latin typeface="Calibri"/>
              </a:rPr>
              <a:t>prosody + lexical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275320.0" y="3566160"/>
            <a:ext cx="0.0" cy="411480"/>
          </a:xfrm>
          <a:prstGeom prst="line">
            <a:avLst/>
          </a:prstGeom>
          <a:ln w="2540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983480" y="4983480"/>
            <a:ext cx="6583680" cy="594360"/>
          </a:xfrm>
          <a:prstGeom prst="roundRect">
            <a:avLst>
              <a:gd name="adj" fmla="val 8000"/>
            </a:avLst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5029200"/>
            <a:ext cx="658368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CONVERSATION CORE  ·  Llama-3.3-70B  ·  full chat history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5276088"/>
            <a:ext cx="658368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decides per turn  →  ASK · VERIFY · GUIDE · CLOSE · HAND-OVER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275320.0" y="4572000"/>
            <a:ext cx="0.0" cy="411480"/>
          </a:xfrm>
          <a:prstGeom prst="line">
            <a:avLst/>
          </a:prstGeom>
          <a:ln w="2540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983480" y="59436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3480" y="59893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CITIZEN TTS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83480" y="62362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AF6ED"/>
                </a:solidFill>
                <a:latin typeface="Calibri"/>
              </a:rPr>
              <a:t>edge-tts · dialect voice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035040.0" y="5577840"/>
            <a:ext cx="0.0" cy="36576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251192" y="59436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51192" y="59893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AGENT DASHBOARD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51192" y="62362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AF6ED"/>
                </a:solidFill>
                <a:latin typeface="Calibri"/>
              </a:rPr>
              <a:t>WebSocket · 6-D radar · pies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302752.0" y="5577840"/>
            <a:ext cx="0.0" cy="36576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9518904" y="59436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18904" y="5989320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AUDIT LEDGER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18904" y="6236208"/>
            <a:ext cx="210312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AF6ED"/>
                </a:solidFill>
                <a:latin typeface="Calibri"/>
              </a:rPr>
              <a:t>PostgreSQL · hash-chained · RTI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570464.0" y="5577840"/>
            <a:ext cx="0.0" cy="365760"/>
          </a:xfrm>
          <a:prstGeom prst="line">
            <a:avLst/>
          </a:prstGeom>
          <a:ln w="21590">
            <a:solidFill>
              <a:srgbClr val="0640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035040.0" y="2263140.0"/>
            <a:ext cx="411480.0" cy="3680460.0"/>
          </a:xfrm>
          <a:prstGeom prst="bentConnector3">
            <a:avLst/>
          </a:prstGeom>
          <a:ln w="19050">
            <a:solidFill>
              <a:srgbClr val="2FA4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451592.0" y="2263140.0"/>
            <a:ext cx="18288.0" cy="3680460.0"/>
          </a:xfrm>
          <a:prstGeom prst="bentConnector3">
            <a:avLst/>
          </a:prstGeom>
          <a:ln w="19050">
            <a:solidFill>
              <a:srgbClr val="9F123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TEAM ARJUNA  ·  PRATYAYA  ·  AI for the 1092 Helpline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"/>
            <a:ext cx="4206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THEME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10058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64037"/>
                </a:solidFill>
                <a:latin typeface="Calibri"/>
              </a:rPr>
              <a:t>FEASIBILITY  &amp;  VIABILITY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9264"/>
            <a:ext cx="64008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42415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A5E"/>
                </a:solidFill>
                <a:latin typeface="Calibri"/>
              </a:rPr>
              <a:t>Operational · Technical · Viability — with challenge → solution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Pratyaya · Sanskrit for verified understanding   |   Team Arjuna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42062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@AI for Bharat 2 · Theme 12 · 1092 Helpline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417320"/>
            <a:ext cx="380390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D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3803904" cy="329184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53896"/>
            <a:ext cx="3803904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OPERATIONAL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828800"/>
            <a:ext cx="3529584" cy="1874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Single browser-based dashboard for officers — no install, no agent training over 30 minutes.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Citizen UI runs on any phone browser — no app download, no SIM-tied dependency.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Slots in beside the existing 1092 stack via a LiveKit / SIP media bridge.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Works on intermittent mobile data — graceful degradation to text-only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417320"/>
            <a:ext cx="380390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3803904" cy="329184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453896"/>
            <a:ext cx="3803904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TECHNICAL 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828800"/>
            <a:ext cx="3529584" cy="1874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Built on open-source / India-deployable components only — no closed-source critical path.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Sub-second p50 turn-to-verification at single-node A100 scale.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One LLM call per turn — well under Groq free tier for hackathon-scale traffic.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Hash-chained PostgreSQL audit ledger — standard infra, tamper-evident.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17320"/>
            <a:ext cx="380390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6B3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417320"/>
            <a:ext cx="3803904" cy="329184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453896"/>
            <a:ext cx="3803904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VIABILITY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828800"/>
            <a:ext cx="3529584" cy="1874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Marginal cost of a new dialect = one fine-tune + one TTS voice + one verification template.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Cross-helpline portability — 181, 1098, 112 are YAML schema swaps, not rewrites.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Every confirmed turn becomes a labelled training pair — call data flywheel pays back model cost.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Sovereign-cloud ready — MeghRaj / State Data Centre compatible.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886200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POTENTIAL CHALLENGES   →   ENGINEERED 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78808"/>
            <a:ext cx="54864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5669280" cy="310896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4251960"/>
            <a:ext cx="5760720" cy="310896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51960"/>
            <a:ext cx="566928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AF6ED"/>
                </a:solidFill>
                <a:latin typeface="Calibri"/>
              </a:rPr>
              <a:t>▸  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251960"/>
            <a:ext cx="57607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2A28"/>
                </a:solidFill>
                <a:latin typeface="Calibri"/>
              </a:rPr>
              <a:t>✓ 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62856"/>
            <a:ext cx="566928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562856"/>
            <a:ext cx="576072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62856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Code-mixed Kannada-English-Hindi audio with strong dialect.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562856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Dual-pass ASR + script-of-text rejection of out-of-domain hallucinations.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73752"/>
            <a:ext cx="56692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4873752"/>
            <a:ext cx="57607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873752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Whisper auto-detect locks onto Gujarati / Marathi for a Kannada caller.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873752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Default first-pass to Kannada; reject non-target script; iterate kn → hi → en.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184648"/>
            <a:ext cx="566928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5184648"/>
            <a:ext cx="576072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184648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Yes/no confirmation loops trapping the citizen in a wrong interpretation.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84648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Conversational LLM with chat history — 'yes/no' interpreted against last question.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95544"/>
            <a:ext cx="56692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5495544"/>
            <a:ext cx="57607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495544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Citizen wants to end the call but the bot keeps asking.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495544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LLM emits action='close' on natural farewells (ಧನ್ಯವಾದ / धन्यवाद / thanks); UI auto-hangs-up.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806440"/>
            <a:ext cx="566928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5806440"/>
            <a:ext cx="5760720" cy="31089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806440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PII leaking into LLM context or audit ledger.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806440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spaCy + custom Indian NER at the edge; ledger stores hashes, not raw transcripts.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117336"/>
            <a:ext cx="56692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0760" y="6117336"/>
            <a:ext cx="57607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117336"/>
            <a:ext cx="553212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▸  Distress speech with breath-catches missed by single ASR.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6117336"/>
            <a:ext cx="5577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64037"/>
                </a:solidFill>
                <a:latin typeface="Calibri"/>
              </a:rPr>
              <a:t>✓  Prosodic confidence + 6-D sentiment trajectory force-trigger hand-over independently.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327648"/>
            <a:ext cx="11475720" cy="27432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327648"/>
            <a:ext cx="114757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D9A44A"/>
                </a:solidFill>
                <a:latin typeface="Calibri"/>
              </a:rPr>
              <a:t>ALIGNS WITH:  Digital India  ·  AI4Bharat / BharatGen  ·  MeitY NLTM  ·  MeghRaj sovereign cloud  ·  RTI-readiness  ·  Karnataka e-Gov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TEAM ARJUNA  ·  PRATYAYA  ·  AI for the 1092 Helpline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"/>
            <a:ext cx="4206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THEME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10058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64037"/>
                </a:solidFill>
                <a:latin typeface="Calibri"/>
              </a:rPr>
              <a:t>IMPACT  &amp; 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9264"/>
            <a:ext cx="64008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42415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A5E"/>
                </a:solidFill>
                <a:latin typeface="Calibri"/>
              </a:rPr>
              <a:t>Citizen impact · Officer impact · Future scope · Business / deployment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Pratyaya · Sanskrit for verified understanding   |   Team Arjuna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42062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@AI for Bharat 2 · Theme 12 · 1092 Helpline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7A18"/>
                </a:solidFill>
                <a:latin typeface="Calibri"/>
              </a:rPr>
              <a:t>MEASURABLE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548640" cy="254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2240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64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128016" cy="96012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19659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64037"/>
                </a:solidFill>
                <a:latin typeface="Calibri"/>
              </a:rPr>
              <a:t>≤ 1.6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359152"/>
            <a:ext cx="1965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p95 turn-to-verified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2" y="1828800"/>
            <a:ext cx="2240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D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9192" y="1828800"/>
            <a:ext cx="128016" cy="96012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3784" y="1920240"/>
            <a:ext cx="19659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D6B5E"/>
                </a:solidFill>
                <a:latin typeface="Calibri"/>
              </a:rPr>
              <a:t>+25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3784" y="2359152"/>
            <a:ext cx="1965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dialect-rich dispatch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1828800"/>
            <a:ext cx="2240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92624" y="1828800"/>
            <a:ext cx="128016" cy="96012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1920240"/>
            <a:ext cx="19659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07A18"/>
                </a:solidFill>
                <a:latin typeface="Calibri"/>
              </a:rPr>
              <a:t>3 →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359152"/>
            <a:ext cx="1965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languages over 3-year horizon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6056" y="1828800"/>
            <a:ext cx="2240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B3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6" y="1828800"/>
            <a:ext cx="128016" cy="960120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1920240"/>
            <a:ext cx="19659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B3982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2359152"/>
            <a:ext cx="1965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calls hash-chained · RTI-ready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828800"/>
            <a:ext cx="2240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19488" y="1828800"/>
            <a:ext cx="128016" cy="96012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920240"/>
            <a:ext cx="19659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9F1239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359152"/>
            <a:ext cx="1965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433F"/>
                </a:solidFill>
                <a:latin typeface="Calibri"/>
              </a:rPr>
              <a:t>PII leaks past the 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926080"/>
            <a:ext cx="57150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D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2926080"/>
            <a:ext cx="5715000" cy="329184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26080"/>
            <a:ext cx="57150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AF6ED"/>
                </a:solidFill>
                <a:latin typeface="Calibri"/>
              </a:rPr>
              <a:t>BENEFITS  ·  citizen + officer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337560"/>
            <a:ext cx="54406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Reduces wrong-dispatch errors by paraphrasing back BEFORE acting.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Cuts officer training time — dashboard mirrors what the AI heard.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Lifts dialect coverage instantly — Dharwad, Mangaluru, Hyderabad-K Kannada.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Audit ledger = single-call timeline for every RTI / oversight request.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0D6B5E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Citizens hear their own dialect spoken back — trust at the most vulnerable moment.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926080"/>
            <a:ext cx="57150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926080"/>
            <a:ext cx="5715000" cy="329184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926080"/>
            <a:ext cx="57150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A28"/>
                </a:solidFill>
                <a:latin typeface="Calibri"/>
              </a:rPr>
              <a:t>FUTURE SCOPE  ·  3-year 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37560"/>
            <a:ext cx="54406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Cross-helpline replication — 181 women, 1098 child, 112 emergency on the same fabric.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All 22 scheduled Indian languages — same core, more fine-tuned heads.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District-level real-time distress sensor for welfare planners.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Continuous learning pipeline — every confirmed turn = labelled training pair.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B07A18"/>
                </a:solidFill>
                <a:latin typeface="Calibri"/>
              </a:rPr>
              <a:t>●  </a:t>
            </a:r>
            <a:r>
              <a:rPr sz="1050">
                <a:solidFill>
                  <a:srgbClr val="36433F"/>
                </a:solidFill>
                <a:latin typeface="Calibri"/>
              </a:rPr>
              <a:t>On-device WebGPU fallback for telephony-blackspot rural regions.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166360"/>
            <a:ext cx="57150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6B3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166360"/>
            <a:ext cx="5715000" cy="292608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166360"/>
            <a:ext cx="571500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DEPLOYMENT / BUSINESS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32120"/>
            <a:ext cx="544068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B2G licence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State Govt for 1092 / 181 / 1098 / 112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Open-source community edition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Indian SI firms operate the stack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Telco bundle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partner with operators for 1092 SIP routing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6B3982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Data dividend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anonymised dialect corpus to AI4Bharat / BharatGen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166360"/>
            <a:ext cx="57150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5166360"/>
            <a:ext cx="5715000" cy="292608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166360"/>
            <a:ext cx="571500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CITIZEN-FACING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532120"/>
            <a:ext cx="544068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9F1239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Equity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rural callers in non-standard dialects get the same SLA as Bangalore-standard.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9F1239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Trust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AI never speaks a final answer the agent hasn't seen first.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9F1239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Safety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distress trajectory + keyword spotter trigger immediate human handover.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9F1239"/>
                </a:solidFill>
                <a:latin typeface="Calibri"/>
              </a:rPr>
              <a:t>●  </a:t>
            </a:r>
            <a:r>
              <a:rPr sz="1050" b="1">
                <a:solidFill>
                  <a:srgbClr val="1F2A28"/>
                </a:solidFill>
                <a:latin typeface="Calibri"/>
              </a:rPr>
              <a:t>Transparency</a:t>
            </a:r>
            <a:r>
              <a:rPr sz="1050" b="0">
                <a:solidFill>
                  <a:srgbClr val="36433F"/>
                </a:solidFill>
                <a:latin typeface="Calibri"/>
              </a:rPr>
              <a:t> — every state transition is one tamper-evident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AF6ED"/>
                </a:solidFill>
                <a:latin typeface="Calibri"/>
              </a:rPr>
              <a:t>TEAM ARJUNA  ·  PRATYAYA  ·  AI for the 1092 Helpline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"/>
            <a:ext cx="4206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9A44A"/>
                </a:solidFill>
                <a:latin typeface="Calibri"/>
              </a:rPr>
              <a:t>AI FOR BHARAT 2  ·  THEME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10058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64037"/>
                </a:solidFill>
                <a:latin typeface="Calibri"/>
              </a:rPr>
              <a:t>RESEARCH  &amp; 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9264"/>
            <a:ext cx="64008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42415"/>
            <a:ext cx="11521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A5E"/>
                </a:solidFill>
                <a:latin typeface="Calibri"/>
              </a:rPr>
              <a:t>Open-source Indian foundation models · published research · Government 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Pratyaya · Sanskrit for verified understanding   |   Team Arjuna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42062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A5E"/>
                </a:solidFill>
                <a:latin typeface="Calibri"/>
              </a:rPr>
              <a:t>@AI for Bharat 2 · Theme 12 · 1092 Helpline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11475720" cy="67665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91440" cy="676656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81328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AI4Bharat (IIT-Madras) — IndicConformer / IndicTrans2 / IndicVoices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783080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ai4bharat.iitm.ac.in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508760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Open-weight Indic ASR + translation models for Kannada, Hindi and 21 other Indian languages. IndicVoices: ~2000 hrs dialect-labelled speech — basis of our dialect classifier.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39696"/>
            <a:ext cx="114757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139696"/>
            <a:ext cx="91440" cy="676656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03704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BharatGen — Shrutam2 (ASR) / Sooktam2 (TTS)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505456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bharatgen.com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231136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Indian-built LLM-powered ASR with native code-mix handling, dialect-conditioned TTS voices.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62072"/>
            <a:ext cx="11475720" cy="67665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62072"/>
            <a:ext cx="91440" cy="676656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926080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Sarvam AI — Sarvam-1 (2-billion-parameter Indic LLM)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27832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sarvam.ai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53512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India-native foundation model trained on 4 trillion tokens of Indic-language data — structured intent extraction + lexical sentiment.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84448"/>
            <a:ext cx="114757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584448"/>
            <a:ext cx="91440" cy="676656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648456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Groq — Whisper-Large-v3 + Llama-3.x (hosted inference)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950208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console.groq.com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675888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Sub-second ASR + conversational LLM turns used in this hackathon prototype.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06824"/>
            <a:ext cx="11475720" cy="67665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306824"/>
            <a:ext cx="91440" cy="676656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370832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OpenAI — Whisper (Radford et al., 2022) · arxiv.org/abs/2212.04356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672584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arxiv.org/abs/2212.04356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398264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Reference architecture for large-scale weakly-supervised multilingual ASR.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29200"/>
            <a:ext cx="114757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029200"/>
            <a:ext cx="91440" cy="676656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093208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MeitY — National Language Translation Mission (NLTM) / Bhashini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394960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bhashini.gov.in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120640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Government-backed multilingual NLP infrastructure — alignment with State priorities.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51576"/>
            <a:ext cx="11475720" cy="676656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751576"/>
            <a:ext cx="91440" cy="676656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815584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4037"/>
                </a:solidFill>
                <a:latin typeface="Calibri"/>
              </a:rPr>
              <a:t>Government of Karnataka — DPAR (e-Governance) · 1092 Helpline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117336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7A18"/>
                </a:solidFill>
                <a:latin typeface="Consolas"/>
              </a:rPr>
              <a:t>🔗  karnataka.gov.in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5843016"/>
            <a:ext cx="5943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6433F"/>
                </a:solidFill>
                <a:latin typeface="Calibri"/>
              </a:rPr>
              <a:t>Operational context, SLA expectations and problem framing for Theme 12.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446520"/>
            <a:ext cx="11475720" cy="164592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114757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D9A44A"/>
                </a:solidFill>
                <a:latin typeface="Calibri"/>
              </a:rPr>
              <a:t>ALL components OPEN-SOURCE  ·  ALL inference IN-JURISDICTION  ·  ALL state HASH-CHAINED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