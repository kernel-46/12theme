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64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0" y="0"/>
            <a:ext cx="50800" cy="685800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34747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D9A44A"/>
                </a:solidFill>
                <a:latin typeface="Calibri"/>
              </a:rPr>
              <a:t>AI FOR BHARAT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34747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FAF6ED"/>
                </a:solidFill>
                <a:latin typeface="Calibri"/>
              </a:rPr>
              <a:t>Hackathon Idea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4747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D9A44A"/>
                </a:solidFill>
                <a:latin typeface="Calibri"/>
              </a:rP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347472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400" b="1">
                <a:solidFill>
                  <a:srgbClr val="FAF6ED"/>
                </a:solidFill>
                <a:latin typeface="Calibri"/>
              </a:rPr>
              <a:t>Arjuna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4680"/>
            <a:ext cx="34747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D9A44A"/>
                </a:solidFill>
                <a:latin typeface="Calibri"/>
              </a:rP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347472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FAF6ED"/>
                </a:solidFill>
                <a:latin typeface="Calibri"/>
              </a:rPr>
              <a:t>Theme 12 — AI for the</a:t>
            </a:r>
          </a:p>
          <a:p>
            <a:pPr algn="l"/>
            <a:r>
              <a:rPr sz="1800" b="1">
                <a:solidFill>
                  <a:srgbClr val="FAF6ED"/>
                </a:solidFill>
                <a:latin typeface="Calibri"/>
              </a:rPr>
              <a:t>1092 Helpline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63440"/>
            <a:ext cx="34747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D9A44A"/>
                </a:solidFill>
                <a:latin typeface="Calibri"/>
              </a:rPr>
              <a:t>CATEGORY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983480"/>
            <a:ext cx="347472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FAF6ED"/>
                </a:solidFill>
                <a:latin typeface="Calibri"/>
              </a:rPr>
              <a:t>Voice AI · Citizen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23560"/>
            <a:ext cx="34747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D9A44A"/>
                </a:solidFill>
                <a:latin typeface="Calibri"/>
              </a:rPr>
              <a:t>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943600"/>
            <a:ext cx="34747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AF6ED"/>
                </a:solidFill>
                <a:latin typeface="Calibri"/>
              </a:rPr>
              <a:t>Government of Karnataka</a:t>
            </a:r>
          </a:p>
          <a:p>
            <a:pPr algn="l"/>
            <a:r>
              <a:rPr sz="1100" b="0">
                <a:solidFill>
                  <a:srgbClr val="FAF6ED"/>
                </a:solidFill>
                <a:latin typeface="Calibri"/>
              </a:rPr>
              <a:t>Women &amp; Child Helpline · 1092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0080"/>
            <a:ext cx="71323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B07A18"/>
                </a:solidFill>
                <a:latin typeface="Calibri"/>
              </a:rPr>
              <a:t>IDEA TITLE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960120"/>
            <a:ext cx="7132320" cy="1463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7200" b="1">
                <a:solidFill>
                  <a:srgbClr val="064037"/>
                </a:solidFill>
                <a:latin typeface="Calibri"/>
              </a:rPr>
              <a:t>Pratyaya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331720"/>
            <a:ext cx="71323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B07A18"/>
                </a:solidFill>
                <a:latin typeface="Calibri"/>
              </a:rPr>
              <a:t>Sanskrit · "verified understanding"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743200"/>
            <a:ext cx="7132320" cy="21945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0">
                <a:solidFill>
                  <a:srgbClr val="1F2A28"/>
                </a:solidFill>
                <a:latin typeface="Calibri"/>
              </a:rPr>
              <a:t>A real-time voice-to-voice AI co-pilot for the 1092</a:t>
            </a:r>
          </a:p>
          <a:p>
            <a:pPr algn="l"/>
            <a:r>
              <a:rPr sz="1800" b="0">
                <a:solidFill>
                  <a:srgbClr val="1F2A28"/>
                </a:solidFill>
                <a:latin typeface="Calibri"/>
              </a:rPr>
              <a:t>helpline that listens, interprets, verifies its own</a:t>
            </a:r>
          </a:p>
          <a:p>
            <a:pPr algn="l"/>
            <a:r>
              <a:rPr sz="1800" b="0">
                <a:solidFill>
                  <a:srgbClr val="1F2A28"/>
                </a:solidFill>
                <a:latin typeface="Calibri"/>
              </a:rPr>
              <a:t>understanding back to the citizen in their dialect, and</a:t>
            </a:r>
          </a:p>
          <a:p>
            <a:pPr algn="l"/>
            <a:r>
              <a:rPr sz="1800" b="0">
                <a:solidFill>
                  <a:srgbClr val="1F2A28"/>
                </a:solidFill>
                <a:latin typeface="Calibri"/>
              </a:rPr>
              <a:t>hands over to a human officer the moment confidence</a:t>
            </a:r>
          </a:p>
          <a:p>
            <a:pPr algn="l"/>
            <a:r>
              <a:rPr sz="1800" b="0">
                <a:solidFill>
                  <a:srgbClr val="1F2A28"/>
                </a:solidFill>
                <a:latin typeface="Calibri"/>
              </a:rPr>
              <a:t>drops or distress rises — never leaves a citizen</a:t>
            </a:r>
          </a:p>
          <a:p>
            <a:pPr algn="l"/>
            <a:r>
              <a:rPr sz="1800" b="0">
                <a:solidFill>
                  <a:srgbClr val="1F2A28"/>
                </a:solidFill>
                <a:latin typeface="Calibri"/>
              </a:rPr>
              <a:t>mid-air.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5120640"/>
            <a:ext cx="23317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C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5120640"/>
            <a:ext cx="2331720" cy="164592"/>
          </a:xfrm>
          <a:prstGeom prst="rect">
            <a:avLst/>
          </a:prstGeom>
          <a:solidFill>
            <a:srgbClr val="0D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5413248"/>
            <a:ext cx="2057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0D6B5E"/>
                </a:solidFill>
                <a:latin typeface="Calibri"/>
              </a:rPr>
              <a:t>Multilingual + Dialect-aware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5833872"/>
            <a:ext cx="2057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36433F"/>
                </a:solidFill>
                <a:latin typeface="Calibri"/>
              </a:rPr>
              <a:t>Kannada · Hindi · English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5120640"/>
            <a:ext cx="23317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C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40880" y="5120640"/>
            <a:ext cx="2331720" cy="164592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0" y="5413248"/>
            <a:ext cx="2057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B07A18"/>
                </a:solidFill>
                <a:latin typeface="Calibri"/>
              </a:rPr>
              <a:t>Verified Understanding Loop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5833872"/>
            <a:ext cx="2057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36433F"/>
                </a:solidFill>
                <a:latin typeface="Calibri"/>
              </a:rPr>
              <a:t>AI paraphrases · citizen confirms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5120640"/>
            <a:ext cx="23317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C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09760" y="5120640"/>
            <a:ext cx="2331720" cy="164592"/>
          </a:xfrm>
          <a:prstGeom prst="rect">
            <a:avLst/>
          </a:prstGeom>
          <a:solidFill>
            <a:srgbClr val="6B3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5413248"/>
            <a:ext cx="2057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6B3982"/>
                </a:solidFill>
                <a:latin typeface="Calibri"/>
              </a:rPr>
              <a:t>Graceful Human Hand-over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5833872"/>
            <a:ext cx="2057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36433F"/>
                </a:solidFill>
                <a:latin typeface="Calibri"/>
              </a:rPr>
              <a:t>Severe / low-confidence → officer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92240"/>
            <a:ext cx="71323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B6A5E"/>
                </a:solidFill>
                <a:latin typeface="Calibri"/>
              </a:rPr>
              <a:t>@AI for Bharat 2  ·  Idea submission template  ·  Team Arjuna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64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191695" cy="3810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45720"/>
            <a:ext cx="73152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FAF6ED"/>
                </a:solidFill>
                <a:latin typeface="Calibri"/>
              </a:rPr>
              <a:t>TEAM ARJUNA · PRATYAYA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5720"/>
            <a:ext cx="420624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000" b="1">
                <a:solidFill>
                  <a:srgbClr val="D9A44A"/>
                </a:solidFill>
                <a:latin typeface="Calibri"/>
              </a:rPr>
              <a:t>AI FOR BHARAT 2  ·  THEME 12  ·  1092 HELPLINE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064037"/>
                </a:solidFill>
                <a:latin typeface="Calibri"/>
              </a:rPr>
              <a:t>IDEA  /  PROPOSED 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078992"/>
            <a:ext cx="548640" cy="3810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731520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>
                <a:solidFill>
                  <a:srgbClr val="6B6A5E"/>
                </a:solidFill>
                <a:latin typeface="Calibri"/>
              </a:rPr>
              <a:t>Hackathon idea submission · Pratyaya by Team Arjuna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446520"/>
            <a:ext cx="46634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900" b="0">
                <a:solidFill>
                  <a:srgbClr val="6B6A5E"/>
                </a:solidFill>
                <a:latin typeface="Calibri"/>
              </a:rPr>
              <a:t>@HackerEarth · AI for Bharat 2  ·  Theme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325880"/>
            <a:ext cx="71323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B07A18"/>
                </a:solidFill>
                <a:latin typeface="Calibri"/>
              </a:rPr>
              <a:t>PROBLEM FRAMING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600200"/>
            <a:ext cx="713232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36433F"/>
                </a:solidFill>
                <a:latin typeface="Calibri"/>
              </a:rPr>
              <a:t>Karnataka's 1092 helpline receives distressed calls in Kannada, Hindi and English — code-mixed, dialect-rich, emotionally charged. The costliest failure isn't slow response — it's acting on a wrong interpretation. Pratyaya optimises for time-to-verified-understanding, not time-to-response.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743200"/>
            <a:ext cx="71323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B07A18"/>
                </a:solidFill>
                <a:latin typeface="Calibri"/>
              </a:rPr>
              <a:t>OUR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063240"/>
            <a:ext cx="7132320" cy="32004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D6B5E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Voice-to-voice loop: the citizen speaks naturally; an LLM-driven co-pilot listens with full conversation context.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D6B5E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Dual-track ASR (Whisper-Large-v3 + Indic priors) → script-aware language detection that rejects Whisper's wrong-language hallucinations.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D6B5E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Single conversational core decides each turn: ASK · VERIFY · GUIDE · CLOSE · HAND-OVER. No rigid yes/no loops.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D6B5E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Multimodal sentiment fusion — distress, urgency, anger, fear, confusion, calm — drawn live as a 6-D radar for the agent.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D6B5E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Graceful hand-over protocol: dashboard pre-populates with the running interpretation; the officer steps in with full context.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D6B5E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Hash-chained PostgreSQL audit ledger — every state transition is a tamper-evident row, RTI-ready.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325880"/>
            <a:ext cx="40233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C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1325880"/>
            <a:ext cx="109728" cy="246888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146304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64037"/>
                </a:solidFill>
                <a:latin typeface="Calibri"/>
              </a:rPr>
              <a:t>UNIQUENESS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1920240"/>
            <a:ext cx="3611880" cy="1783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07A18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Verified-understanding-first — AI never acts before the citizen confirms its interpretation.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B07A18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Script-aware language lock — Whisper picks Gujarati for a Kannada caller? We reject and re-try with explicit Kannada.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B07A18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Conversational LLM with chat history — "yes/no" is interpreted against the LAST question asked, not the first.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B07A18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Distress fast-path — keyword + sentiment trajectory force-trigger hand-over even if the LLM is unsure.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3886200"/>
            <a:ext cx="40233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C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18120" y="3886200"/>
            <a:ext cx="109728" cy="2468880"/>
          </a:xfrm>
          <a:prstGeom prst="rect">
            <a:avLst/>
          </a:prstGeom>
          <a:solidFill>
            <a:srgbClr val="0D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02336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64037"/>
                </a:solidFill>
                <a:latin typeface="Calibri"/>
              </a:rPr>
              <a:t>HOW IT ADDRESSES THE PROBLEM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480560"/>
            <a:ext cx="3611880" cy="1783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D6B5E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Multilingual gap → real-time STT/TTS in Kannada · Hindi · English with dialect-aware voice selection.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D6B5E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Mis-understanding gap → explicit paraphrase-back + confirmation, logged as a learning signal.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D6B5E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Emotional gap → 6-D sentiment fed live to the agent dashboard.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D6B5E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Escalation gap → confidence + sentiment + asked-count drive a designed hand-over sequence, not a hard cut.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64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191695" cy="3810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45720"/>
            <a:ext cx="73152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FAF6ED"/>
                </a:solidFill>
                <a:latin typeface="Calibri"/>
              </a:rPr>
              <a:t>TEAM ARJUNA · PRATYAYA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5720"/>
            <a:ext cx="420624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000" b="1">
                <a:solidFill>
                  <a:srgbClr val="D9A44A"/>
                </a:solidFill>
                <a:latin typeface="Calibri"/>
              </a:rPr>
              <a:t>AI FOR BHARAT 2  ·  THEME 12  ·  1092 HELPLINE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064037"/>
                </a:solidFill>
                <a:latin typeface="Calibri"/>
              </a:rPr>
              <a:t>TECHNICAL 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078992"/>
            <a:ext cx="548640" cy="3810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731520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>
                <a:solidFill>
                  <a:srgbClr val="6B6A5E"/>
                </a:solidFill>
                <a:latin typeface="Calibri"/>
              </a:rPr>
              <a:t>Hackathon idea submission · Pratyaya by Team Arjuna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446520"/>
            <a:ext cx="46634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900" b="0">
                <a:solidFill>
                  <a:srgbClr val="6B6A5E"/>
                </a:solidFill>
                <a:latin typeface="Calibri"/>
              </a:rPr>
              <a:t>@HackerEarth · AI for Bharat 2  ·  Theme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325880"/>
            <a:ext cx="49377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B07A18"/>
                </a:solidFill>
                <a:latin typeface="Calibri"/>
              </a:rPr>
              <a:t>TECH STACK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691640"/>
            <a:ext cx="1417320" cy="411480"/>
          </a:xfrm>
          <a:prstGeom prst="roundRect">
            <a:avLst>
              <a:gd name="adj" fmla="val 18000"/>
            </a:avLst>
          </a:prstGeom>
          <a:solidFill>
            <a:srgbClr val="0D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137160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AF6ED"/>
                </a:solidFill>
                <a:latin typeface="Calibri"/>
              </a:rPr>
              <a:t>Voice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1737360"/>
            <a:ext cx="338328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36433F"/>
                </a:solidFill>
                <a:latin typeface="Calibri"/>
              </a:rPr>
              <a:t>Whisper-Large-v3 (Groq) · edge-tts · MediaRecorder + WebAudio VAD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194560"/>
            <a:ext cx="1417320" cy="411480"/>
          </a:xfrm>
          <a:prstGeom prst="roundRect">
            <a:avLst>
              <a:gd name="adj" fmla="val 18000"/>
            </a:avLst>
          </a:prstGeom>
          <a:solidFill>
            <a:srgbClr val="0D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240280"/>
            <a:ext cx="137160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AF6ED"/>
                </a:solidFill>
                <a:latin typeface="Calibri"/>
              </a:rPr>
              <a:t>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240280"/>
            <a:ext cx="338328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36433F"/>
                </a:solidFill>
                <a:latin typeface="Calibri"/>
              </a:rPr>
              <a:t>Llama-3.3-70B-versatile (Groq) · Llama-3.1-8B (fast path)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697480"/>
            <a:ext cx="1417320" cy="411480"/>
          </a:xfrm>
          <a:prstGeom prst="roundRect">
            <a:avLst>
              <a:gd name="adj" fmla="val 18000"/>
            </a:avLst>
          </a:prstGeom>
          <a:solidFill>
            <a:srgbClr val="0D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743200"/>
            <a:ext cx="137160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AF6ED"/>
                </a:solidFill>
                <a:latin typeface="Calibri"/>
              </a:rPr>
              <a:t>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2743200"/>
            <a:ext cx="338328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36433F"/>
                </a:solidFill>
                <a:latin typeface="Calibri"/>
              </a:rPr>
              <a:t>FastAPI · Uvicorn · WebSockets · async httpx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200400"/>
            <a:ext cx="1417320" cy="411480"/>
          </a:xfrm>
          <a:prstGeom prst="roundRect">
            <a:avLst>
              <a:gd name="adj" fmla="val 18000"/>
            </a:avLst>
          </a:prstGeom>
          <a:solidFill>
            <a:srgbClr val="0D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246120"/>
            <a:ext cx="137160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AF6ED"/>
                </a:solidFill>
                <a:latin typeface="Calibri"/>
              </a:rPr>
              <a:t>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246120"/>
            <a:ext cx="338328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36433F"/>
                </a:solidFill>
                <a:latin typeface="Calibri"/>
              </a:rPr>
              <a:t>Vanilla JS · Chart.js · Web Audio API · WebSockets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703320"/>
            <a:ext cx="1417320" cy="411480"/>
          </a:xfrm>
          <a:prstGeom prst="roundRect">
            <a:avLst>
              <a:gd name="adj" fmla="val 18000"/>
            </a:avLst>
          </a:prstGeom>
          <a:solidFill>
            <a:srgbClr val="0D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49040"/>
            <a:ext cx="137160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AF6ED"/>
                </a:solidFill>
                <a:latin typeface="Calibri"/>
              </a:rPr>
              <a:t>Storage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749040"/>
            <a:ext cx="338328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36433F"/>
                </a:solidFill>
                <a:latin typeface="Calibri"/>
              </a:rPr>
              <a:t>PostgreSQL 16 (Supabase) · SQLite fallback · hash-chained audit ledger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4206240"/>
            <a:ext cx="1417320" cy="411480"/>
          </a:xfrm>
          <a:prstGeom prst="roundRect">
            <a:avLst>
              <a:gd name="adj" fmla="val 18000"/>
            </a:avLst>
          </a:prstGeom>
          <a:solidFill>
            <a:srgbClr val="0D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251960"/>
            <a:ext cx="137160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AF6ED"/>
                </a:solidFill>
                <a:latin typeface="Calibri"/>
              </a:rPr>
              <a:t>Sentiment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4251960"/>
            <a:ext cx="338328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36433F"/>
                </a:solidFill>
                <a:latin typeface="Calibri"/>
              </a:rPr>
              <a:t>6-D fusion: prosody (pitch/jitter/loudness) + lexical (LLM)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4709160"/>
            <a:ext cx="1417320" cy="411480"/>
          </a:xfrm>
          <a:prstGeom prst="roundRect">
            <a:avLst>
              <a:gd name="adj" fmla="val 18000"/>
            </a:avLst>
          </a:prstGeom>
          <a:solidFill>
            <a:srgbClr val="0D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754880"/>
            <a:ext cx="137160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AF6ED"/>
                </a:solidFill>
                <a:latin typeface="Calibri"/>
              </a:rPr>
              <a:t>Privacy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4754880"/>
            <a:ext cx="338328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36433F"/>
                </a:solidFill>
                <a:latin typeface="Calibri"/>
              </a:rPr>
              <a:t>Edge-time PII redaction · in-jurisdiction inference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5212080"/>
            <a:ext cx="1417320" cy="411480"/>
          </a:xfrm>
          <a:prstGeom prst="roundRect">
            <a:avLst>
              <a:gd name="adj" fmla="val 18000"/>
            </a:avLst>
          </a:prstGeom>
          <a:solidFill>
            <a:srgbClr val="0D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257800"/>
            <a:ext cx="137160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AF6ED"/>
                </a:solidFill>
                <a:latin typeface="Calibri"/>
              </a:rPr>
              <a:t>Notify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5257800"/>
            <a:ext cx="338328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36433F"/>
                </a:solidFill>
                <a:latin typeface="Calibri"/>
              </a:rPr>
              <a:t>Telegram Bot API for officer hand-over pings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1325880"/>
            <a:ext cx="62179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B07A18"/>
                </a:solidFill>
                <a:latin typeface="Calibri"/>
              </a:rPr>
              <a:t>ARCHITECTURE DIAGRAM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23560" y="1691640"/>
            <a:ext cx="1188720" cy="1005840"/>
          </a:xfrm>
          <a:prstGeom prst="roundRect">
            <a:avLst>
              <a:gd name="adj" fmla="val 10000"/>
            </a:avLst>
          </a:prstGeom>
          <a:solidFill>
            <a:srgbClr val="064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23560" y="1783080"/>
            <a:ext cx="118872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AF6ED"/>
                </a:solidFill>
                <a:latin typeface="Calibri"/>
              </a:rPr>
              <a:t>Citizen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2057400"/>
            <a:ext cx="118872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850" b="0">
                <a:solidFill>
                  <a:srgbClr val="FAF6ED"/>
                </a:solidFill>
                <a:latin typeface="Calibri"/>
              </a:rPr>
              <a:t>📞 voice in</a:t>
            </a:r>
          </a:p>
          <a:p>
            <a:pPr algn="ctr"/>
            <a:r>
              <a:rPr sz="850" b="0">
                <a:solidFill>
                  <a:srgbClr val="FAF6ED"/>
                </a:solidFill>
                <a:latin typeface="Calibri"/>
              </a:rPr>
              <a:t>(Kannada/Hindi/English)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6812280" y="2057400"/>
            <a:ext cx="45720" cy="274320"/>
          </a:xfrm>
          <a:prstGeom prst="rightArrow">
            <a:avLst/>
          </a:prstGeom>
          <a:solidFill>
            <a:srgbClr val="06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858000" y="1691640"/>
            <a:ext cx="1188720" cy="1005840"/>
          </a:xfrm>
          <a:prstGeom prst="roundRect">
            <a:avLst>
              <a:gd name="adj" fmla="val 10000"/>
            </a:avLst>
          </a:prstGeom>
          <a:solidFill>
            <a:srgbClr val="0D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0" y="1783080"/>
            <a:ext cx="118872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AF6ED"/>
                </a:solidFill>
                <a:latin typeface="Calibri"/>
              </a:rPr>
              <a:t>Ingestion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2057400"/>
            <a:ext cx="118872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850" b="0">
                <a:solidFill>
                  <a:srgbClr val="FAF6ED"/>
                </a:solidFill>
                <a:latin typeface="Calibri"/>
              </a:rPr>
              <a:t>PII redact</a:t>
            </a:r>
          </a:p>
          <a:p>
            <a:pPr algn="ctr"/>
            <a:r>
              <a:rPr sz="850" b="0">
                <a:solidFill>
                  <a:srgbClr val="FAF6ED"/>
                </a:solidFill>
                <a:latin typeface="Calibri"/>
              </a:rPr>
              <a:t>VAD · noise suppress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8046720" y="2057400"/>
            <a:ext cx="45720" cy="274320"/>
          </a:xfrm>
          <a:prstGeom prst="rightArrow">
            <a:avLst/>
          </a:prstGeom>
          <a:solidFill>
            <a:srgbClr val="06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092440" y="1691640"/>
            <a:ext cx="1188720" cy="1005840"/>
          </a:xfrm>
          <a:prstGeom prst="roundRect">
            <a:avLst>
              <a:gd name="adj" fmla="val 10000"/>
            </a:avLst>
          </a:prstGeom>
          <a:solidFill>
            <a:srgbClr val="2FA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92440" y="1783080"/>
            <a:ext cx="118872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1F2A28"/>
                </a:solidFill>
                <a:latin typeface="Calibri"/>
              </a:rPr>
              <a:t>ASR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92440" y="2057400"/>
            <a:ext cx="118872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850" b="0">
                <a:solidFill>
                  <a:srgbClr val="1F2A28"/>
                </a:solidFill>
                <a:latin typeface="Calibri"/>
              </a:rPr>
              <a:t>Whisper-Large-v3</a:t>
            </a:r>
          </a:p>
          <a:p>
            <a:pPr algn="ctr"/>
            <a:r>
              <a:rPr sz="850" b="0">
                <a:solidFill>
                  <a:srgbClr val="1F2A28"/>
                </a:solidFill>
                <a:latin typeface="Calibri"/>
              </a:rPr>
              <a:t>script-lock retry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9281160" y="2057400"/>
            <a:ext cx="45720" cy="274320"/>
          </a:xfrm>
          <a:prstGeom prst="rightArrow">
            <a:avLst/>
          </a:prstGeom>
          <a:solidFill>
            <a:srgbClr val="06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326880" y="1691640"/>
            <a:ext cx="1188720" cy="1005840"/>
          </a:xfrm>
          <a:prstGeom prst="roundRect">
            <a:avLst>
              <a:gd name="adj" fmla="val 10000"/>
            </a:avLst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26880" y="1783080"/>
            <a:ext cx="118872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1F2A28"/>
                </a:solidFill>
                <a:latin typeface="Calibri"/>
              </a:rPr>
              <a:t>Conversation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880" y="2057400"/>
            <a:ext cx="118872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850" b="0">
                <a:solidFill>
                  <a:srgbClr val="1F2A28"/>
                </a:solidFill>
                <a:latin typeface="Calibri"/>
              </a:rPr>
              <a:t>LLM core</a:t>
            </a:r>
          </a:p>
          <a:p>
            <a:pPr algn="ctr"/>
            <a:r>
              <a:rPr sz="850" b="0">
                <a:solidFill>
                  <a:srgbClr val="1F2A28"/>
                </a:solidFill>
                <a:latin typeface="Calibri"/>
              </a:rPr>
              <a:t>ask · verify · guide ·</a:t>
            </a:r>
          </a:p>
          <a:p>
            <a:pPr algn="ctr"/>
            <a:r>
              <a:rPr sz="850" b="0">
                <a:solidFill>
                  <a:srgbClr val="1F2A28"/>
                </a:solidFill>
                <a:latin typeface="Calibri"/>
              </a:rPr>
              <a:t>close · hand-over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10515600" y="2057400"/>
            <a:ext cx="45720" cy="274320"/>
          </a:xfrm>
          <a:prstGeom prst="rightArrow">
            <a:avLst/>
          </a:prstGeom>
          <a:solidFill>
            <a:srgbClr val="06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0561320" y="1691640"/>
            <a:ext cx="1188720" cy="1005840"/>
          </a:xfrm>
          <a:prstGeom prst="roundRect">
            <a:avLst>
              <a:gd name="adj" fmla="val 10000"/>
            </a:avLst>
          </a:prstGeom>
          <a:solidFill>
            <a:srgbClr val="D9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61320" y="1783080"/>
            <a:ext cx="118872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1F2A28"/>
                </a:solidFill>
                <a:latin typeface="Calibri"/>
              </a:rPr>
              <a:t>Sentiment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61320" y="2057400"/>
            <a:ext cx="118872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850" b="0">
                <a:solidFill>
                  <a:srgbClr val="1F2A28"/>
                </a:solidFill>
                <a:latin typeface="Calibri"/>
              </a:rPr>
              <a:t>6-D fusion</a:t>
            </a:r>
          </a:p>
          <a:p>
            <a:pPr algn="ctr"/>
            <a:r>
              <a:rPr sz="850" b="0">
                <a:solidFill>
                  <a:srgbClr val="1F2A28"/>
                </a:solidFill>
                <a:latin typeface="Calibri"/>
              </a:rPr>
              <a:t>prosody + lexical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623560" y="2926080"/>
            <a:ext cx="19659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D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23560" y="2926080"/>
            <a:ext cx="1965960" cy="182880"/>
          </a:xfrm>
          <a:prstGeom prst="rect">
            <a:avLst/>
          </a:prstGeom>
          <a:solidFill>
            <a:srgbClr val="0D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715000" y="3200400"/>
            <a:ext cx="1783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0D6B5E"/>
                </a:solidFill>
                <a:latin typeface="Calibri"/>
              </a:rPr>
              <a:t>Verification Loop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15000" y="3493008"/>
            <a:ext cx="17830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36433F"/>
                </a:solidFill>
                <a:latin typeface="Calibri"/>
              </a:rPr>
              <a:t>paraphrase-back</a:t>
            </a:r>
          </a:p>
          <a:p>
            <a:pPr algn="l"/>
            <a:r>
              <a:rPr sz="900" b="0">
                <a:solidFill>
                  <a:srgbClr val="36433F"/>
                </a:solidFill>
                <a:latin typeface="Calibri"/>
              </a:rPr>
              <a:t>→ citizen confirms/corrects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726680" y="2926080"/>
            <a:ext cx="19659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07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726680" y="2926080"/>
            <a:ext cx="1965960" cy="18288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18120" y="3200400"/>
            <a:ext cx="1783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B07A18"/>
                </a:solidFill>
                <a:latin typeface="Calibri"/>
              </a:rPr>
              <a:t>State Machine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18120" y="3493008"/>
            <a:ext cx="17830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36433F"/>
                </a:solidFill>
                <a:latin typeface="Calibri"/>
              </a:rPr>
              <a:t>VERIFIED · CLARIFY · HANDOVER</a:t>
            </a:r>
          </a:p>
          <a:p>
            <a:pPr algn="l"/>
            <a:r>
              <a:rPr sz="900" b="0">
                <a:solidFill>
                  <a:srgbClr val="36433F"/>
                </a:solidFill>
                <a:latin typeface="Calibri"/>
              </a:rPr>
              <a:t>thresholds in YAML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829800" y="2926080"/>
            <a:ext cx="19659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6B3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829800" y="2926080"/>
            <a:ext cx="1965960" cy="182880"/>
          </a:xfrm>
          <a:prstGeom prst="rect">
            <a:avLst/>
          </a:prstGeom>
          <a:solidFill>
            <a:srgbClr val="6B3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921240" y="3200400"/>
            <a:ext cx="1783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6B3982"/>
                </a:solidFill>
                <a:latin typeface="Calibri"/>
              </a:rPr>
              <a:t>Audit Ledger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921240" y="3493008"/>
            <a:ext cx="17830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36433F"/>
                </a:solidFill>
                <a:latin typeface="Calibri"/>
              </a:rPr>
              <a:t>hash-chained Postgres</a:t>
            </a:r>
          </a:p>
          <a:p>
            <a:pPr algn="l"/>
            <a:r>
              <a:rPr sz="900" b="0">
                <a:solidFill>
                  <a:srgbClr val="36433F"/>
                </a:solidFill>
                <a:latin typeface="Calibri"/>
              </a:rPr>
              <a:t>tamper-evident · RTI-ready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623560" y="416052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0D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760720" y="4297680"/>
            <a:ext cx="2743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FAF6ED"/>
                </a:solidFill>
                <a:latin typeface="Calibri"/>
              </a:rPr>
              <a:t>Citizen UI · WebSocket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60720" y="4617720"/>
            <a:ext cx="274320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FAF6ED"/>
                </a:solidFill>
                <a:latin typeface="Calibri"/>
              </a:rPr>
              <a:t>TTS reply in dialect · auto-hangup on close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778240" y="416052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915400" y="4297680"/>
            <a:ext cx="2743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1F2A28"/>
                </a:solidFill>
                <a:latin typeface="Calibri"/>
              </a:rPr>
              <a:t>Agent Dashboard · WebSocket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15400" y="4617720"/>
            <a:ext cx="274320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1F2A28"/>
                </a:solidFill>
                <a:latin typeface="Calibri"/>
              </a:rPr>
              <a:t>live transcript · 6-D radar · pies · hand-over bridge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64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191695" cy="3810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45720"/>
            <a:ext cx="73152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FAF6ED"/>
                </a:solidFill>
                <a:latin typeface="Calibri"/>
              </a:rPr>
              <a:t>TEAM ARJUNA · PRATYAYA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5720"/>
            <a:ext cx="420624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000" b="1">
                <a:solidFill>
                  <a:srgbClr val="D9A44A"/>
                </a:solidFill>
                <a:latin typeface="Calibri"/>
              </a:rPr>
              <a:t>AI FOR BHARAT 2  ·  THEME 12  ·  1092 HELPLINE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064037"/>
                </a:solidFill>
                <a:latin typeface="Calibri"/>
              </a:rPr>
              <a:t>FEASIBILITY  &amp;  VIABILITY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078992"/>
            <a:ext cx="548640" cy="3810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731520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>
                <a:solidFill>
                  <a:srgbClr val="6B6A5E"/>
                </a:solidFill>
                <a:latin typeface="Calibri"/>
              </a:rPr>
              <a:t>Hackathon idea submission · Pratyaya by Team Arjuna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446520"/>
            <a:ext cx="46634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900" b="0">
                <a:solidFill>
                  <a:srgbClr val="6B6A5E"/>
                </a:solidFill>
                <a:latin typeface="Calibri"/>
              </a:rPr>
              <a:t>@HackerEarth · AI for Bharat 2  ·  Theme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325880"/>
            <a:ext cx="380390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C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325880"/>
            <a:ext cx="109728" cy="2286000"/>
          </a:xfrm>
          <a:prstGeom prst="rect">
            <a:avLst/>
          </a:prstGeom>
          <a:solidFill>
            <a:srgbClr val="0D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463040"/>
            <a:ext cx="3438144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64037"/>
                </a:solidFill>
                <a:latin typeface="Calibri"/>
              </a:rPr>
              <a:t>OPERATIONAL FEASIBILITY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920240"/>
            <a:ext cx="3392424" cy="1600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D6B5E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Single browser-based agent UI; no install on the operator desk.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D6B5E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Citizen UI runs on any phone browser — no app download.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D6B5E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Designed to slot in beside the existing 1092 stack via a LiveKit media bridge.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D6B5E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Officer training time: &lt;30 minutes. UI mirrors what the AI heard.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325880"/>
            <a:ext cx="380390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C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325880"/>
            <a:ext cx="109728" cy="228600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463040"/>
            <a:ext cx="3438144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64037"/>
                </a:solidFill>
                <a:latin typeface="Calibri"/>
              </a:rPr>
              <a:t>TECHNICAL FEASIBILITY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920240"/>
            <a:ext cx="3392424" cy="1600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07A18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Built entirely on open-source / India-deployable components.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B07A18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Sub-second p50 turn-to-verification at single-node scale.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B07A18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Conversation core is one LLM call per turn — under-budget on Groq's free tier for hackathon-scale traffic.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B07A18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Hash-chained audit ledger uses standard PostgreSQL — no exotic infra.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1325880"/>
            <a:ext cx="380390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C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325880"/>
            <a:ext cx="109728" cy="2286000"/>
          </a:xfrm>
          <a:prstGeom prst="rect">
            <a:avLst/>
          </a:prstGeom>
          <a:solidFill>
            <a:srgbClr val="6B3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199" y="1463040"/>
            <a:ext cx="3438144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64037"/>
                </a:solidFill>
                <a:latin typeface="Calibri"/>
              </a:rPr>
              <a:t>VIABILITY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199" y="1920240"/>
            <a:ext cx="3392424" cy="1600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B3982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Marginal cost of adding a new dialect = one fine-tune + one TTS voice.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6B3982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Cross-helpline portability — replace the schema YAML, swap dialect tags. 181, 1098, 112 are configuration changes, not rewrites.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6B3982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Every confirmed turn becomes a labelled training pair — the call data flywheel pays back the model cost.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6B3982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Aligns with State Data Centre / MeghRaj sovereignty constraints.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794760"/>
            <a:ext cx="11430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B07A18"/>
                </a:solidFill>
                <a:latin typeface="Calibri"/>
              </a:rPr>
              <a:t>CHALLENGES  →  SOLUTIONS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160520"/>
            <a:ext cx="11430000" cy="411480"/>
          </a:xfrm>
          <a:prstGeom prst="rect">
            <a:avLst/>
          </a:prstGeom>
          <a:solidFill>
            <a:srgbClr val="F3ED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206240"/>
            <a:ext cx="512064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36433F"/>
                </a:solidFill>
                <a:latin typeface="Calibri"/>
              </a:rPr>
              <a:t>▸ Code-mixed Kannada-English-Hindi audio with strong dialect.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206240"/>
            <a:ext cx="603504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>
                <a:solidFill>
                  <a:srgbClr val="064037"/>
                </a:solidFill>
                <a:latin typeface="Calibri"/>
              </a:rPr>
              <a:t>✓ Dual-pass ASR with explicit-language re-tries; script-of-text rejection of out-of-domain hallucinations.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572000"/>
            <a:ext cx="114300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617720"/>
            <a:ext cx="512064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36433F"/>
                </a:solidFill>
                <a:latin typeface="Calibri"/>
              </a:rPr>
              <a:t>▸ Whisper occasionally returns 'no speech' on real distress audio.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4617720"/>
            <a:ext cx="603504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>
                <a:solidFill>
                  <a:srgbClr val="064037"/>
                </a:solidFill>
                <a:latin typeface="Calibri"/>
              </a:rPr>
              <a:t>✓ Empty-text recovery: re-attempt without prompt, then iterate language hints kn → hi → en before giving up.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983480"/>
            <a:ext cx="11430000" cy="411480"/>
          </a:xfrm>
          <a:prstGeom prst="rect">
            <a:avLst/>
          </a:prstGeom>
          <a:solidFill>
            <a:srgbClr val="F3ED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029200"/>
            <a:ext cx="512064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36433F"/>
                </a:solidFill>
                <a:latin typeface="Calibri"/>
              </a:rPr>
              <a:t>▸ Yes/no confirmation loops trapping the citizen in a wrong interpretation.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5029200"/>
            <a:ext cx="603504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>
                <a:solidFill>
                  <a:srgbClr val="064037"/>
                </a:solidFill>
                <a:latin typeface="Calibri"/>
              </a:rPr>
              <a:t>✓ Conversational LLM with full chat history; 'yes/no' interpreted against the last question asked, not the original paraphrase.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5394960"/>
            <a:ext cx="114300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440680"/>
            <a:ext cx="512064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36433F"/>
                </a:solidFill>
                <a:latin typeface="Calibri"/>
              </a:rPr>
              <a:t>▸ Citizen wants to end the call but the bot keeps asking.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5440680"/>
            <a:ext cx="603504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>
                <a:solidFill>
                  <a:srgbClr val="064037"/>
                </a:solidFill>
                <a:latin typeface="Calibri"/>
              </a:rPr>
              <a:t>✓ LLM emits action='close' on natural farewells (thanks/ಧನ್ಯವಾದ/धन्यवाद/bye); UI auto-hangs-up after the farewell.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5806440"/>
            <a:ext cx="11430000" cy="411480"/>
          </a:xfrm>
          <a:prstGeom prst="rect">
            <a:avLst/>
          </a:prstGeom>
          <a:solidFill>
            <a:srgbClr val="F3ED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852160"/>
            <a:ext cx="512064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36433F"/>
                </a:solidFill>
                <a:latin typeface="Calibri"/>
              </a:rPr>
              <a:t>▸ PII leaking into LLM context or audit ledger.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5852160"/>
            <a:ext cx="603504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>
                <a:solidFill>
                  <a:srgbClr val="064037"/>
                </a:solidFill>
                <a:latin typeface="Calibri"/>
              </a:rPr>
              <a:t>✓ spaCy + custom Indian NER at the edge; LLM only sees redacted form. Ledger stores hashes, not raw transcripts.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64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191695" cy="3810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45720"/>
            <a:ext cx="73152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FAF6ED"/>
                </a:solidFill>
                <a:latin typeface="Calibri"/>
              </a:rPr>
              <a:t>TEAM ARJUNA · PRATYAYA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5720"/>
            <a:ext cx="420624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000" b="1">
                <a:solidFill>
                  <a:srgbClr val="D9A44A"/>
                </a:solidFill>
                <a:latin typeface="Calibri"/>
              </a:rPr>
              <a:t>AI FOR BHARAT 2  ·  THEME 12  ·  1092 HELPLINE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064037"/>
                </a:solidFill>
                <a:latin typeface="Calibri"/>
              </a:rPr>
              <a:t>IMPACT  &amp;  BENEFITS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078992"/>
            <a:ext cx="548640" cy="3810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731520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>
                <a:solidFill>
                  <a:srgbClr val="6B6A5E"/>
                </a:solidFill>
                <a:latin typeface="Calibri"/>
              </a:rPr>
              <a:t>Hackathon idea submission · Pratyaya by Team Arjuna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446520"/>
            <a:ext cx="46634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900" b="0">
                <a:solidFill>
                  <a:srgbClr val="6B6A5E"/>
                </a:solidFill>
                <a:latin typeface="Calibri"/>
              </a:rPr>
              <a:t>@HackerEarth · AI for Bharat 2  ·  Theme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325880"/>
            <a:ext cx="571500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C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325880"/>
            <a:ext cx="109728" cy="2377440"/>
          </a:xfrm>
          <a:prstGeom prst="rect">
            <a:avLst/>
          </a:prstGeom>
          <a:solidFill>
            <a:srgbClr val="0D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463040"/>
            <a:ext cx="5349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64037"/>
                </a:solidFill>
                <a:latin typeface="Calibri"/>
              </a:rPr>
              <a:t>BENEFITS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920240"/>
            <a:ext cx="5303520" cy="1691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D6B5E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Reduces wrong-dispatch errors by paraphrasing back BEFORE acting.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D6B5E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Cuts agent training time — the dashboard mirrors what the AI heard.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D6B5E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Lifts dialect coverage instantly — one fine-tune adds Dharwad, Mangaluru, Hyderabad-K Kannada, Marathi-influenced borders.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D6B5E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Audit ledger gives every officer/RTI request a single-call timeline.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D6B5E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Citizens hear their own dialect spoken back — trust signal at the most vulnerable moment of the call.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325880"/>
            <a:ext cx="571500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C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325880"/>
            <a:ext cx="109728" cy="237744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463040"/>
            <a:ext cx="5349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64037"/>
                </a:solidFill>
                <a:latin typeface="Calibri"/>
              </a:rPr>
              <a:t>FUTURE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920240"/>
            <a:ext cx="5303520" cy="1691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07A18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Cross-helpline replication: 181 women's, 1098 child, 112 emergency — same fabric, schema-level swaps.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B07A18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All 22 scheduled Indian languages over a 3-year horizon.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B07A18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Real-time district-level distress sensor for welfare planners.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B07A18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Continuous learning pipeline — every confirmed turn a labelled pair.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B07A18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On-device fallback (browser WebGPU) for telephony-blackspot regions.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840480"/>
            <a:ext cx="571500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C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840480"/>
            <a:ext cx="109728" cy="2377440"/>
          </a:xfrm>
          <a:prstGeom prst="rect">
            <a:avLst/>
          </a:prstGeom>
          <a:solidFill>
            <a:srgbClr val="6B3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977640"/>
            <a:ext cx="5349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64037"/>
                </a:solidFill>
                <a:latin typeface="Calibri"/>
              </a:rPr>
              <a:t>BUSINESS / DEPLOYMENT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434840"/>
            <a:ext cx="5303520" cy="1691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B3982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B2G — License to State Government for 1092 / 181 / 1098 / 112.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6B3982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Open-source community edition — Indian SI firms operate the stack.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6B3982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Telco-bundle — partner with operators to provision 1092 SIP routes.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6B3982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Training-data dividend — anonymised dialect corpus licensable to AI4Bharat / BharatGen under sovereign licence.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6B3982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Annual recurring service: monthly fine-tunes, quarterly audit reviews.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840480"/>
            <a:ext cx="571500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C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840480"/>
            <a:ext cx="109728" cy="2377440"/>
          </a:xfrm>
          <a:prstGeom prst="rect">
            <a:avLst/>
          </a:prstGeom>
          <a:solidFill>
            <a:srgbClr val="2FA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977640"/>
            <a:ext cx="5349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64037"/>
                </a:solidFill>
                <a:latin typeface="Calibri"/>
              </a:rPr>
              <a:t>IMPACT (MEASURABLE)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434840"/>
            <a:ext cx="5303520" cy="1691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FA48A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Time-to-verified-understanding: target ≤ 1.6 s p95 per turn.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FA48A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Per-call dispatch accuracy: aim for +25 pp on dialect-rich calls vs single-ASR baseline.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FA48A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Officer hand-over satisfaction: zero re-introductions; full context pre-loaded.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FA48A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Trust: every citizen interaction is hash-chained, RTI-serveable.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FA48A"/>
                </a:solidFill>
                <a:latin typeface="Calibri"/>
              </a:rPr>
              <a:t>• </a:t>
            </a:r>
            <a:r>
              <a:rPr sz="1100">
                <a:solidFill>
                  <a:srgbClr val="36433F"/>
                </a:solidFill>
                <a:latin typeface="Calibri"/>
              </a:rPr>
              <a:t>Equity: rural callers in non-standard dialects get the same service quality as Bangalore-standard callers.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64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191695" cy="3810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45720"/>
            <a:ext cx="73152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FAF6ED"/>
                </a:solidFill>
                <a:latin typeface="Calibri"/>
              </a:rPr>
              <a:t>TEAM ARJUNA · PRATYAYA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5720"/>
            <a:ext cx="420624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000" b="1">
                <a:solidFill>
                  <a:srgbClr val="D9A44A"/>
                </a:solidFill>
                <a:latin typeface="Calibri"/>
              </a:rPr>
              <a:t>AI FOR BHARAT 2  ·  THEME 12  ·  1092 HELPLINE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064037"/>
                </a:solidFill>
                <a:latin typeface="Calibri"/>
              </a:rPr>
              <a:t>RESEARCH  &amp;  REFERENCES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078992"/>
            <a:ext cx="548640" cy="38100"/>
          </a:xfrm>
          <a:prstGeom prst="rect">
            <a:avLst/>
          </a:prstGeom>
          <a:solidFill>
            <a:srgbClr val="B0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731520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>
                <a:solidFill>
                  <a:srgbClr val="6B6A5E"/>
                </a:solidFill>
                <a:latin typeface="Calibri"/>
              </a:rPr>
              <a:t>Hackathon idea submission · Pratyaya by Team Arjuna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446520"/>
            <a:ext cx="46634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900" b="0">
                <a:solidFill>
                  <a:srgbClr val="6B6A5E"/>
                </a:solidFill>
                <a:latin typeface="Calibri"/>
              </a:rPr>
              <a:t>@HackerEarth · AI for Bharat 2  ·  Theme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325880"/>
            <a:ext cx="11430000" cy="658368"/>
          </a:xfrm>
          <a:prstGeom prst="rect">
            <a:avLst/>
          </a:prstGeom>
          <a:solidFill>
            <a:srgbClr val="F3ED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380744"/>
            <a:ext cx="38404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064037"/>
                </a:solidFill>
                <a:latin typeface="Calibri"/>
              </a:rPr>
              <a:t>AI4Bharat — IndicConformer / IndicTrans2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655064"/>
            <a:ext cx="38404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>
                <a:solidFill>
                  <a:srgbClr val="B07A18"/>
                </a:solidFill>
                <a:latin typeface="Consolas"/>
              </a:rPr>
              <a:t>ai4bharat.iitm.ac.in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417320"/>
            <a:ext cx="713232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36433F"/>
                </a:solidFill>
                <a:latin typeface="Calibri"/>
              </a:rPr>
              <a:t>Open-weight Indic ASR + translation models for Kannada, Hindi and 21 other Indian languages. Backbone of the dialect-aware ASR layer.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039112"/>
            <a:ext cx="114300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093976"/>
            <a:ext cx="38404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064037"/>
                </a:solidFill>
                <a:latin typeface="Calibri"/>
              </a:rPr>
              <a:t>BharatGen — Shrutam2 / Sooktam2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368296"/>
            <a:ext cx="38404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>
                <a:solidFill>
                  <a:srgbClr val="B07A18"/>
                </a:solidFill>
                <a:latin typeface="Consolas"/>
              </a:rPr>
              <a:t>bharatgen.com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130552"/>
            <a:ext cx="713232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36433F"/>
                </a:solidFill>
                <a:latin typeface="Calibri"/>
              </a:rPr>
              <a:t>Indian-built LLM-powered ASR and dialect-conditioned TTS.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752344"/>
            <a:ext cx="11430000" cy="658368"/>
          </a:xfrm>
          <a:prstGeom prst="rect">
            <a:avLst/>
          </a:prstGeom>
          <a:solidFill>
            <a:srgbClr val="F3ED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807208"/>
            <a:ext cx="38404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064037"/>
                </a:solidFill>
                <a:latin typeface="Calibri"/>
              </a:rPr>
              <a:t>Sarvam AI — Sarvam-1 (2B Indic LLM)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081528"/>
            <a:ext cx="38404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>
                <a:solidFill>
                  <a:srgbClr val="B07A18"/>
                </a:solidFill>
                <a:latin typeface="Consolas"/>
              </a:rPr>
              <a:t>sarvam.ai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843784"/>
            <a:ext cx="713232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36433F"/>
                </a:solidFill>
                <a:latin typeface="Calibri"/>
              </a:rPr>
              <a:t>India-native foundation model for structured intent extraction and lexical sentiment.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465576"/>
            <a:ext cx="114300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520440"/>
            <a:ext cx="38404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064037"/>
                </a:solidFill>
                <a:latin typeface="Calibri"/>
              </a:rPr>
              <a:t>Groq — Whisper-Large-v3 + Llama 3.x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794760"/>
            <a:ext cx="38404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>
                <a:solidFill>
                  <a:srgbClr val="B07A18"/>
                </a:solidFill>
                <a:latin typeface="Consolas"/>
              </a:rPr>
              <a:t>console.groq.com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557016"/>
            <a:ext cx="713232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36433F"/>
                </a:solidFill>
                <a:latin typeface="Calibri"/>
              </a:rPr>
              <a:t>Hosted inference used in this hackathon prototype for sub-second ASR + conversational LLM turns.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178808"/>
            <a:ext cx="11430000" cy="658368"/>
          </a:xfrm>
          <a:prstGeom prst="rect">
            <a:avLst/>
          </a:prstGeom>
          <a:solidFill>
            <a:srgbClr val="F3ED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233672"/>
            <a:ext cx="38404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064037"/>
                </a:solidFill>
                <a:latin typeface="Calibri"/>
              </a:rPr>
              <a:t>OpenAI — Whisper paper, Radford et al. 2022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507992"/>
            <a:ext cx="38404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>
                <a:solidFill>
                  <a:srgbClr val="B07A18"/>
                </a:solidFill>
                <a:latin typeface="Consolas"/>
              </a:rPr>
              <a:t>arxiv.org/abs/2212.04356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270248"/>
            <a:ext cx="713232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36433F"/>
                </a:solidFill>
                <a:latin typeface="Calibri"/>
              </a:rPr>
              <a:t>Reference architecture for large-scale multilingual ASR.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892040"/>
            <a:ext cx="114300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946904"/>
            <a:ext cx="38404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064037"/>
                </a:solidFill>
                <a:latin typeface="Calibri"/>
              </a:rPr>
              <a:t>MeitY — National Language Translation Mission (NLTM) / IndicVoices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221224"/>
            <a:ext cx="38404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>
                <a:solidFill>
                  <a:srgbClr val="B07A18"/>
                </a:solidFill>
                <a:latin typeface="Consolas"/>
              </a:rPr>
              <a:t>dst.gov.in / indicvoices.ai4bharat.org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4983480"/>
            <a:ext cx="713232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36433F"/>
                </a:solidFill>
                <a:latin typeface="Calibri"/>
              </a:rPr>
              <a:t>~2000 hours of dialect-labelled Indian-language speech, used as the training basis for our dialect classifier.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5605272"/>
            <a:ext cx="11430000" cy="658368"/>
          </a:xfrm>
          <a:prstGeom prst="rect">
            <a:avLst/>
          </a:prstGeom>
          <a:solidFill>
            <a:srgbClr val="F3ED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660136"/>
            <a:ext cx="38404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064037"/>
                </a:solidFill>
                <a:latin typeface="Calibri"/>
              </a:rPr>
              <a:t>Govt. of Karnataka — DPAR (e-Governance) · 1092 Helpline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934456"/>
            <a:ext cx="38404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>
                <a:solidFill>
                  <a:srgbClr val="B07A18"/>
                </a:solidFill>
                <a:latin typeface="Consolas"/>
              </a:rPr>
              <a:t>karnataka.gov.in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5696712"/>
            <a:ext cx="713232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36433F"/>
                </a:solidFill>
                <a:latin typeface="Calibri"/>
              </a:rPr>
              <a:t>Operational context and problem framing source for Theme 12.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